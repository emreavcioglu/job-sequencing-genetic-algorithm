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8" r:id="rId9"/>
    <p:sldId id="261" r:id="rId10"/>
    <p:sldId id="262" r:id="rId11"/>
    <p:sldId id="267" r:id="rId12"/>
    <p:sldId id="270" r:id="rId13"/>
    <p:sldId id="263" r:id="rId14"/>
    <p:sldId id="271" r:id="rId15"/>
    <p:sldId id="272" r:id="rId16"/>
    <p:sldId id="264" r:id="rId17"/>
    <p:sldId id="265" r:id="rId18"/>
    <p:sldId id="266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3" d="100"/>
          <a:sy n="103" d="100"/>
        </p:scale>
        <p:origin x="874" y="77"/>
      </p:cViewPr>
      <p:guideLst>
        <p:guide orient="horz" pos="2166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ayt Resim Yer Tutucu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Metin Yer Tutucu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tr-T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hyperlink" Target="mailto:61ndju1mst@hft-stuttgart.de" TargetMode="External"/><Relationship Id="rId3" Type="http://schemas.openxmlformats.org/officeDocument/2006/relationships/hyperlink" Target="mailto:61prso1mst@hft-stuttgart.de" TargetMode="External"/><Relationship Id="rId2" Type="http://schemas.openxmlformats.org/officeDocument/2006/relationships/hyperlink" Target="mailto:61emav1bak@hft-stuttgart.de" TargetMode="External"/><Relationship Id="rId1" Type="http://schemas.openxmlformats.org/officeDocument/2006/relationships/hyperlink" Target="mailto:61suce1bif@hft-stuttgart.d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1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334256" y="49377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34256" y="159105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34256" y="268833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34256" y="378561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40096" y="49377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40096" y="159105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40096" y="268833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40096" y="378561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45936" y="49377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45936" y="159105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45936" y="268833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45936" y="378561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51776" y="49377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51776" y="159105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51776" y="268833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51776" y="378561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7616" y="49377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57616" y="159105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57616" y="2688336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57616" y="3785615"/>
            <a:ext cx="109728" cy="109728"/>
          </a:xfrm>
          <a:prstGeom prst="ellipse">
            <a:avLst/>
          </a:prstGeom>
          <a:solidFill>
            <a:srgbClr val="3A5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640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 panose="02040503050406030204"/>
              </a:rPr>
              <a:t>Computational</a:t>
            </a:r>
            <a:endParaRPr sz="44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0" y="14173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>
                <a:solidFill>
                  <a:srgbClr val="CADCFC"/>
                </a:solidFill>
                <a:latin typeface="Cambria" panose="02040503050406030204"/>
              </a:rPr>
              <a:t>Intelligence</a:t>
            </a:r>
            <a:endParaRPr sz="4400" b="1" i="0" dirty="0">
              <a:solidFill>
                <a:srgbClr val="CADCFC"/>
              </a:solidFill>
              <a:latin typeface="Cambria" panose="02040503050406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0" y="2331720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A8C8F5"/>
                </a:solidFill>
                <a:latin typeface="+mj-lt"/>
              </a:rPr>
              <a:t>Genetic Algorithms &amp; Ant Colony Optimization</a:t>
            </a:r>
            <a:endParaRPr sz="1500" b="0" i="1" dirty="0">
              <a:solidFill>
                <a:srgbClr val="A8C8F5"/>
              </a:solidFill>
              <a:latin typeface="+mj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57600" y="2971800"/>
            <a:ext cx="5120640" cy="18288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154680"/>
            <a:ext cx="51206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 err="1">
                <a:solidFill>
                  <a:schemeClr val="bg1"/>
                </a:solidFill>
              </a:rPr>
              <a:t>Sudem</a:t>
            </a:r>
            <a:r>
              <a:rPr sz="1200" b="0" i="0" dirty="0">
                <a:solidFill>
                  <a:schemeClr val="bg1"/>
                </a:solidFill>
              </a:rPr>
              <a:t> Zehra </a:t>
            </a:r>
            <a:r>
              <a:rPr lang="tr-TR" sz="1200" b="0" i="0" dirty="0">
                <a:solidFill>
                  <a:schemeClr val="bg1"/>
                </a:solidFill>
              </a:rPr>
              <a:t>Ç</a:t>
            </a:r>
            <a:r>
              <a:rPr sz="1200" b="0" i="0" dirty="0" err="1">
                <a:solidFill>
                  <a:schemeClr val="bg1"/>
                </a:solidFill>
              </a:rPr>
              <a:t>elikel</a:t>
            </a:r>
            <a:r>
              <a:rPr lang="en-US" sz="1200" b="0" i="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  <a:effectLst/>
                <a:ea typeface="SimSun" panose="02010600030101010101" pitchFamily="2" charset="-122"/>
              </a:rPr>
              <a:t>(</a:t>
            </a:r>
            <a:r>
              <a:rPr lang="en-US" sz="1200" b="1" u="sng" dirty="0">
                <a:solidFill>
                  <a:schemeClr val="bg1"/>
                </a:solidFill>
                <a:effectLst/>
                <a:ea typeface="SimSun" panose="02010600030101010101" pitchFamily="2" charset="-122"/>
                <a:hlinkClick r:id="rId1"/>
              </a:rPr>
              <a:t>61suce1bif@hft-stuttgart.de</a:t>
            </a:r>
            <a:r>
              <a:rPr lang="en-US" sz="1200" b="1" dirty="0">
                <a:solidFill>
                  <a:schemeClr val="bg1"/>
                </a:solidFill>
                <a:effectLst/>
                <a:ea typeface="SimSun" panose="02010600030101010101" pitchFamily="2" charset="-122"/>
              </a:rPr>
              <a:t>)</a:t>
            </a:r>
            <a:endParaRPr lang="en-US" sz="1200" b="1" dirty="0">
              <a:solidFill>
                <a:schemeClr val="bg1"/>
              </a:solidFill>
              <a:ea typeface="SimSun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7600" y="3502152"/>
            <a:ext cx="512064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chemeClr val="bg1"/>
                </a:solidFill>
              </a:rPr>
              <a:t>Emre </a:t>
            </a:r>
            <a:r>
              <a:rPr sz="1200" b="0" i="0" dirty="0" err="1">
                <a:solidFill>
                  <a:schemeClr val="bg1"/>
                </a:solidFill>
              </a:rPr>
              <a:t>Avcıo</a:t>
            </a:r>
            <a:r>
              <a:rPr lang="tr-TR" sz="1200" b="0" i="0" dirty="0" err="1">
                <a:solidFill>
                  <a:schemeClr val="bg1"/>
                </a:solidFill>
              </a:rPr>
              <a:t>ğ</a:t>
            </a:r>
            <a:r>
              <a:rPr sz="1200" b="0" i="0" dirty="0" err="1">
                <a:solidFill>
                  <a:schemeClr val="bg1"/>
                </a:solidFill>
              </a:rPr>
              <a:t>lu</a:t>
            </a:r>
            <a:r>
              <a:rPr lang="en-US" sz="1200" b="0" i="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  <a:effectLst/>
                <a:ea typeface="SimSun" panose="02010600030101010101" pitchFamily="2" charset="-122"/>
              </a:rPr>
              <a:t>(</a:t>
            </a:r>
            <a:r>
              <a:rPr lang="en-US" sz="1200" b="1" u="sng" dirty="0">
                <a:solidFill>
                  <a:schemeClr val="bg1"/>
                </a:solidFill>
                <a:effectLst/>
                <a:ea typeface="SimSun" panose="02010600030101010101" pitchFamily="2" charset="-122"/>
                <a:hlinkClick r:id="rId2"/>
              </a:rPr>
              <a:t>61emav1bak@hft-stuttgart.de</a:t>
            </a:r>
            <a:r>
              <a:rPr lang="en-US" sz="1200" b="1" dirty="0">
                <a:solidFill>
                  <a:schemeClr val="bg1"/>
                </a:solidFill>
                <a:effectLst/>
                <a:ea typeface="SimSun" panose="02010600030101010101" pitchFamily="2" charset="-122"/>
              </a:rPr>
              <a:t>)</a:t>
            </a:r>
            <a:endParaRPr lang="en-US" sz="1200" b="1" dirty="0">
              <a:solidFill>
                <a:schemeClr val="bg1"/>
              </a:solidFill>
              <a:ea typeface="SimSun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57600" y="3849624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 err="1">
                <a:solidFill>
                  <a:schemeClr val="bg1"/>
                </a:solidFill>
              </a:rPr>
              <a:t>Sooraj</a:t>
            </a:r>
            <a:r>
              <a:rPr sz="1200" b="0" i="0" dirty="0">
                <a:solidFill>
                  <a:schemeClr val="bg1"/>
                </a:solidFill>
              </a:rPr>
              <a:t> Prasad</a:t>
            </a:r>
            <a:r>
              <a:rPr lang="en-US" sz="1200" b="0" i="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  <a:effectLst/>
                <a:ea typeface="SimSun" panose="02010600030101010101" pitchFamily="2" charset="-122"/>
              </a:rPr>
              <a:t>(</a:t>
            </a:r>
            <a:r>
              <a:rPr lang="en-US" sz="1200" b="1" u="sng" dirty="0">
                <a:solidFill>
                  <a:schemeClr val="bg1"/>
                </a:solidFill>
                <a:effectLst/>
                <a:ea typeface="SimSun" panose="02010600030101010101" pitchFamily="2" charset="-122"/>
                <a:hlinkClick r:id="rId3"/>
              </a:rPr>
              <a:t>61prso1mst@hft-stuttgart.de</a:t>
            </a:r>
            <a:r>
              <a:rPr lang="en-US" sz="1200" b="1" dirty="0">
                <a:solidFill>
                  <a:schemeClr val="bg1"/>
                </a:solidFill>
                <a:effectLst/>
                <a:ea typeface="SimSun" panose="02010600030101010101" pitchFamily="2" charset="-122"/>
              </a:rPr>
              <a:t>)</a:t>
            </a:r>
            <a:endParaRPr lang="en-US" sz="1200" b="1" dirty="0">
              <a:solidFill>
                <a:schemeClr val="bg1"/>
              </a:solidFill>
              <a:effectLst/>
              <a:ea typeface="SimSun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0" y="4197096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chemeClr val="bg1"/>
                </a:solidFill>
              </a:rPr>
              <a:t>Ndefru</a:t>
            </a:r>
            <a:r>
              <a:rPr sz="1200" b="0" i="0" dirty="0">
                <a:solidFill>
                  <a:schemeClr val="bg1"/>
                </a:solidFill>
              </a:rPr>
              <a:t> Junior Yande</a:t>
            </a:r>
            <a:r>
              <a:rPr lang="en-US" sz="1200" b="0" i="0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  <a:effectLst/>
                <a:ea typeface="SimSun" panose="02010600030101010101" pitchFamily="2" charset="-122"/>
              </a:rPr>
              <a:t>(</a:t>
            </a:r>
            <a:r>
              <a:rPr lang="en-US" sz="1200" b="1" u="sng" dirty="0">
                <a:solidFill>
                  <a:schemeClr val="bg1"/>
                </a:solidFill>
                <a:effectLst/>
                <a:ea typeface="SimSun" panose="02010600030101010101" pitchFamily="2" charset="-122"/>
                <a:hlinkClick r:id="rId4"/>
              </a:rPr>
              <a:t>61ndju1mst@hft-stuttgart.de</a:t>
            </a:r>
            <a:r>
              <a:rPr lang="en-US" sz="1200" b="1" dirty="0">
                <a:solidFill>
                  <a:schemeClr val="bg1"/>
                </a:solidFill>
                <a:effectLst/>
                <a:ea typeface="SimSun" panose="02010600030101010101" pitchFamily="2" charset="-122"/>
              </a:rPr>
              <a:t>)</a:t>
            </a:r>
            <a:endParaRPr sz="1200" b="0" i="0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0" y="4572000"/>
            <a:ext cx="5120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8A97BB"/>
                </a:solidFill>
                <a:latin typeface="Calibri" panose="020F0502020204030204"/>
              </a:rPr>
              <a:t>Summer Term 202</a:t>
            </a:r>
            <a:r>
              <a:rPr lang="en-US" sz="1100" b="0" i="0" dirty="0">
                <a:solidFill>
                  <a:srgbClr val="8A97BB"/>
                </a:solidFill>
                <a:latin typeface="Calibri" panose="020F0502020204030204"/>
              </a:rPr>
              <a:t>6</a:t>
            </a:r>
            <a:endParaRPr sz="1100" b="0" i="0" dirty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88720" y="2011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A3882"/>
                </a:solidFill>
                <a:latin typeface="Cambria" panose="02040503050406030204"/>
              </a:rPr>
              <a:t>CI</a:t>
            </a:r>
            <a:endParaRPr sz="5200" b="1" i="0">
              <a:solidFill>
                <a:srgbClr val="2A3882"/>
              </a:solidFill>
              <a:latin typeface="Cambria" panose="02040503050406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716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7BB"/>
                </a:solidFill>
                <a:latin typeface="Calibri" panose="020F0502020204030204"/>
              </a:rPr>
              <a:t>HFT Stuttgart</a:t>
            </a:r>
            <a:endParaRPr sz="1000" b="0" i="0">
              <a:solidFill>
                <a:srgbClr val="8A97B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Learning Objectives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47472" y="128016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6344" y="1463040"/>
            <a:ext cx="585216" cy="585216"/>
          </a:xfrm>
          <a:prstGeom prst="ellipse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148132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 panose="02040503050406030204"/>
              </a:rPr>
              <a:t>01</a:t>
            </a:r>
            <a:endParaRPr sz="14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2569464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500" b="1" i="0">
                <a:solidFill>
                  <a:srgbClr val="1A1F4A"/>
                </a:solidFill>
                <a:latin typeface="Cambria" panose="02040503050406030204"/>
              </a:rPr>
              <a:t>Problem Statement</a:t>
            </a:r>
            <a:endParaRPr lang="tr-TR" sz="1500" b="1" i="0">
              <a:solidFill>
                <a:srgbClr val="1A1F4A"/>
              </a:solidFill>
              <a:latin typeface="Cambria" panose="02040503050406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128016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38144" y="1463040"/>
            <a:ext cx="585216" cy="585216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148132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 panose="02040503050406030204"/>
              </a:rPr>
              <a:t>02</a:t>
            </a:r>
            <a:endParaRPr sz="14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569464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500" b="1" i="0">
                <a:solidFill>
                  <a:srgbClr val="1A1F4A"/>
                </a:solidFill>
                <a:latin typeface="Cambria" panose="02040503050406030204"/>
              </a:rPr>
              <a:t>Genetic Algorithm</a:t>
            </a:r>
            <a:endParaRPr lang="tr-TR" sz="1500" b="1" i="0">
              <a:solidFill>
                <a:srgbClr val="1A1F4A"/>
              </a:solidFill>
              <a:latin typeface="Cambria" panose="02040503050406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91072" y="128016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4D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1463040"/>
            <a:ext cx="585216" cy="585216"/>
          </a:xfrm>
          <a:prstGeom prst="ellipse">
            <a:avLst/>
          </a:prstGeom>
          <a:solidFill>
            <a:srgbClr val="5A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48132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 panose="02040503050406030204"/>
              </a:rPr>
              <a:t>03</a:t>
            </a:r>
            <a:endParaRPr sz="14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7790" y="2138045"/>
            <a:ext cx="2569464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500" b="1" i="0">
                <a:solidFill>
                  <a:srgbClr val="1A1F4A"/>
                </a:solidFill>
                <a:latin typeface="Cambria" panose="02040503050406030204"/>
              </a:rPr>
              <a:t>Ant Colony Optimization</a:t>
            </a:r>
            <a:endParaRPr lang="tr-TR" sz="1500" b="1" i="0">
              <a:solidFill>
                <a:srgbClr val="1A1F4A"/>
              </a:solidFill>
              <a:latin typeface="Cambria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947" y="2459990"/>
            <a:ext cx="2514600" cy="212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200" b="0" i="0">
                <a:solidFill>
                  <a:srgbClr val="444C70"/>
                </a:solidFill>
                <a:latin typeface="Calibri" panose="020F0502020204030204"/>
              </a:rPr>
              <a:t>P</a:t>
            </a:r>
            <a:r>
              <a:rPr lang="en-US" altLang="tr-TR" sz="1200" b="0" i="0">
                <a:solidFill>
                  <a:srgbClr val="444C70"/>
                </a:solidFill>
                <a:latin typeface="Calibri" panose="020F0502020204030204"/>
              </a:rPr>
              <a:t>ermutation Flow Shop Scheduling Problem</a:t>
            </a:r>
            <a:r>
              <a:rPr lang="tr-TR" altLang="en-US" sz="1200" b="0" i="0">
                <a:solidFill>
                  <a:srgbClr val="444C70"/>
                </a:solidFill>
                <a:latin typeface="Calibri" panose="020F0502020204030204"/>
              </a:rPr>
              <a:t>. (PFSP) </a:t>
            </a:r>
            <a:endParaRPr lang="tr-TR" altLang="en-US" sz="1200" b="0" i="0">
              <a:solidFill>
                <a:srgbClr val="444C70"/>
              </a:solidFill>
              <a:latin typeface="Calibri" panose="020F0502020204030204"/>
            </a:endParaRPr>
          </a:p>
          <a:p>
            <a:pPr algn="l"/>
            <a:endParaRPr lang="tr-TR" altLang="en-US" sz="1200" b="0" i="0">
              <a:solidFill>
                <a:srgbClr val="444C70"/>
              </a:solidFill>
              <a:latin typeface="Calibri" panose="020F0502020204030204"/>
            </a:endParaRPr>
          </a:p>
          <a:p>
            <a:pPr algn="l"/>
            <a:r>
              <a:rPr lang="tr-TR" altLang="en-US" sz="1200" b="0" i="0">
                <a:solidFill>
                  <a:srgbClr val="444C70"/>
                </a:solidFill>
                <a:latin typeface="Calibri" panose="020F0502020204030204"/>
              </a:rPr>
              <a:t>Case Study:</a:t>
            </a:r>
            <a:endParaRPr lang="tr-TR" altLang="en-US" sz="1200" b="0" i="0">
              <a:solidFill>
                <a:srgbClr val="444C70"/>
              </a:solidFill>
              <a:latin typeface="Calibri" panose="020F0502020204030204"/>
            </a:endParaRPr>
          </a:p>
          <a:p>
            <a:pPr algn="l"/>
            <a:r>
              <a:rPr lang="tr-TR" sz="1200">
                <a:solidFill>
                  <a:srgbClr val="444C70"/>
                </a:solidFill>
                <a:latin typeface="Calibri" panose="020F0502020204030204"/>
                <a:sym typeface="+mn-ea"/>
              </a:rPr>
              <a:t>Organize m jobs across n machines where one job has to be completed on a certain machine before said machine can take on another job. No job can also be put on hold after finishing, it has to go to the next machine.</a:t>
            </a:r>
            <a:endParaRPr lang="tr-TR" altLang="en-US" sz="1200" b="0" i="0">
              <a:solidFill>
                <a:srgbClr val="444C70"/>
              </a:solidFill>
              <a:latin typeface="Calibri" panose="020F0502020204030204"/>
            </a:endParaRPr>
          </a:p>
        </p:txBody>
      </p:sp>
      <p:sp>
        <p:nvSpPr>
          <p:cNvPr id="21" name="TextBox 7"/>
          <p:cNvSpPr txBox="1"/>
          <p:nvPr/>
        </p:nvSpPr>
        <p:spPr>
          <a:xfrm>
            <a:off x="3496437" y="2459990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C70"/>
                </a:solidFill>
                <a:latin typeface="Calibri" panose="020F0502020204030204"/>
              </a:rPr>
              <a:t>Understand the principles of evolutionary computation: selection, crossover, and mutation as mechanisms for iterative solution improvement.</a:t>
            </a:r>
            <a:endParaRPr sz="1200" b="0" i="0">
              <a:solidFill>
                <a:srgbClr val="444C70"/>
              </a:solidFill>
              <a:latin typeface="Calibri" panose="020F0502020204030204"/>
            </a:endParaRPr>
          </a:p>
        </p:txBody>
      </p:sp>
      <p:sp>
        <p:nvSpPr>
          <p:cNvPr id="22" name="TextBox 12"/>
          <p:cNvSpPr txBox="1"/>
          <p:nvPr/>
        </p:nvSpPr>
        <p:spPr>
          <a:xfrm>
            <a:off x="6400927" y="2459990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C70"/>
                </a:solidFill>
                <a:latin typeface="Calibri" panose="020F0502020204030204"/>
              </a:rPr>
              <a:t>Grasp how swarm intelligence and pheromone-based communication guide artificial ants toward near-optimal solutions.</a:t>
            </a:r>
            <a:endParaRPr sz="1200" b="0" i="0">
              <a:solidFill>
                <a:srgbClr val="444C7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Introduction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4320" y="1234440"/>
            <a:ext cx="41605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2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160520" cy="502920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71016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 panose="02040503050406030204"/>
              </a:rPr>
              <a:t>Genetic Algorithm</a:t>
            </a:r>
            <a:endParaRPr sz="15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912" y="1828800"/>
            <a:ext cx="3886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F4A"/>
                </a:solidFill>
                <a:latin typeface="Calibri" panose="020F0502020204030204"/>
              </a:rPr>
              <a:t>An evolutionary computation method inspired by natural selection and genetics.</a:t>
            </a:r>
            <a:endParaRPr sz="1200" b="0" i="1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" y="2532888"/>
            <a:ext cx="3886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C65"/>
                </a:solidFill>
                <a:latin typeface="Calibri" panose="020F0502020204030204"/>
              </a:rPr>
              <a:t>→  Operates on a population of candidate solutions</a:t>
            </a:r>
            <a:endParaRPr sz="1150" b="0" i="0">
              <a:solidFill>
                <a:srgbClr val="333C65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" y="3063240"/>
            <a:ext cx="3886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C65"/>
                </a:solidFill>
                <a:latin typeface="Calibri" panose="020F0502020204030204"/>
              </a:rPr>
              <a:t>→  Iteratively improves via selection, crossover, mutation</a:t>
            </a:r>
            <a:endParaRPr sz="1150" b="0" i="0">
              <a:solidFill>
                <a:srgbClr val="333C65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3593592"/>
            <a:ext cx="3886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C65"/>
                </a:solidFill>
                <a:latin typeface="Calibri" panose="020F0502020204030204"/>
              </a:rPr>
              <a:t>→  Mimics Darwinian survival of the fittest</a:t>
            </a:r>
            <a:endParaRPr sz="1150" b="0" i="0">
              <a:solidFill>
                <a:srgbClr val="333C65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" y="4123943"/>
            <a:ext cx="3886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C65"/>
                </a:solidFill>
                <a:latin typeface="Calibri" panose="020F0502020204030204"/>
              </a:rPr>
              <a:t>→  Well-suited for high-dimensional search spaces</a:t>
            </a:r>
            <a:endParaRPr sz="1150" b="0" i="0">
              <a:solidFill>
                <a:srgbClr val="333C65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59" y="1234440"/>
            <a:ext cx="416052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59" y="1234440"/>
            <a:ext cx="416052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1" y="1271016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 panose="02040503050406030204"/>
              </a:rPr>
              <a:t>Ant Colony Optimization</a:t>
            </a:r>
            <a:endParaRPr sz="15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73751" y="1828800"/>
            <a:ext cx="3886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F4A"/>
                </a:solidFill>
                <a:latin typeface="Calibri" panose="020F0502020204030204"/>
              </a:rPr>
              <a:t>Inspired by the foraging behaviour of real ants using pheromone communication.</a:t>
            </a:r>
            <a:endParaRPr sz="1200" b="0" i="1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73751" y="2532888"/>
            <a:ext cx="3886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C65"/>
                </a:solidFill>
                <a:latin typeface="Calibri" panose="020F0502020204030204"/>
              </a:rPr>
              <a:t>→  Ants deposit virtual pheromones on successful routes</a:t>
            </a:r>
            <a:endParaRPr sz="1150" b="0" i="0">
              <a:solidFill>
                <a:srgbClr val="333C65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73751" y="3063240"/>
            <a:ext cx="3886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C65"/>
                </a:solidFill>
                <a:latin typeface="Calibri" panose="020F0502020204030204"/>
              </a:rPr>
              <a:t>→  Other ants probabilistically follow stronger trails</a:t>
            </a:r>
            <a:endParaRPr sz="1150" b="0" i="0">
              <a:solidFill>
                <a:srgbClr val="333C65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73751" y="3593592"/>
            <a:ext cx="3886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C65"/>
                </a:solidFill>
                <a:latin typeface="Calibri" panose="020F0502020204030204"/>
              </a:rPr>
              <a:t>→  Trails evaporate over time – avoiding premature convergence</a:t>
            </a:r>
            <a:endParaRPr sz="1150" b="0" i="0">
              <a:solidFill>
                <a:srgbClr val="333C65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73751" y="4123943"/>
            <a:ext cx="3886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333C65"/>
                </a:solidFill>
                <a:latin typeface="Calibri" panose="020F0502020204030204"/>
              </a:rPr>
              <a:t>→  Excels at combinatorial problems (T</a:t>
            </a:r>
            <a:r>
              <a:rPr lang="en-US" sz="1150" b="0" i="0" dirty="0">
                <a:solidFill>
                  <a:srgbClr val="333C65"/>
                </a:solidFill>
                <a:latin typeface="Calibri" panose="020F0502020204030204"/>
              </a:rPr>
              <a:t>ravel salesman problem</a:t>
            </a:r>
            <a:r>
              <a:rPr sz="1150" b="0" i="0" dirty="0">
                <a:solidFill>
                  <a:srgbClr val="333C65"/>
                </a:solidFill>
                <a:latin typeface="Calibri" panose="020F0502020204030204"/>
              </a:rPr>
              <a:t>, routing, scheduling)</a:t>
            </a:r>
            <a:endParaRPr sz="1150" b="0" i="0" dirty="0">
              <a:solidFill>
                <a:srgbClr val="333C6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51560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Genetic Algorithm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C8F5"/>
                </a:solidFill>
                <a:latin typeface="Calibri" panose="020F0502020204030204"/>
              </a:rPr>
              <a:t>How it works</a:t>
            </a:r>
            <a:endParaRPr sz="1300" b="0" i="1">
              <a:solidFill>
                <a:srgbClr val="A8C8F5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1A5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29844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69E"/>
                </a:solidFill>
                <a:latin typeface="Cambria" panose="02040503050406030204"/>
              </a:rPr>
              <a:t>1</a:t>
            </a:r>
            <a:endParaRPr sz="1400" b="1" i="0">
              <a:solidFill>
                <a:srgbClr val="1A569E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Population
Initialisation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8EEFF"/>
                </a:solidFill>
                <a:latin typeface="Calibri" panose="020F0502020204030204"/>
              </a:rPr>
              <a:t>Random candidate solutions fill the initial gene pool</a:t>
            </a:r>
            <a:endParaRPr sz="1050" b="0" i="0">
              <a:solidFill>
                <a:srgbClr val="D8EE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28216" y="25146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7BB"/>
                </a:solidFill>
                <a:latin typeface="Calibri" panose="020F0502020204030204"/>
              </a:rPr>
              <a:t>→</a:t>
            </a:r>
            <a:endParaRPr sz="1800" b="1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2024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1A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50008" y="129844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89E"/>
                </a:solidFill>
                <a:latin typeface="Cambria" panose="02040503050406030204"/>
              </a:rPr>
              <a:t>2</a:t>
            </a:r>
            <a:endParaRPr sz="1400" b="1" i="0">
              <a:solidFill>
                <a:srgbClr val="1A789E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Fitness
Evaluation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1168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8EEFF"/>
                </a:solidFill>
                <a:latin typeface="Calibri" panose="020F0502020204030204"/>
              </a:rPr>
              <a:t>Each individual is scored against the objective function</a:t>
            </a:r>
            <a:endParaRPr sz="1050" b="0" i="0">
              <a:solidFill>
                <a:srgbClr val="D8EE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74136" y="25146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7BB"/>
                </a:solidFill>
                <a:latin typeface="Calibri" panose="020F0502020204030204"/>
              </a:rPr>
              <a:t>→</a:t>
            </a:r>
            <a:endParaRPr sz="1800" b="1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56616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029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95928" y="129844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651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9B80"/>
                </a:solidFill>
                <a:latin typeface="Cambria" panose="02040503050406030204"/>
              </a:rPr>
              <a:t>3</a:t>
            </a:r>
            <a:endParaRPr sz="1400" b="1" i="0">
              <a:solidFill>
                <a:srgbClr val="029B80"/>
              </a:solidFill>
              <a:latin typeface="Cambria" panose="02040503050406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Selection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8EEFF"/>
                </a:solidFill>
                <a:latin typeface="Calibri" panose="020F0502020204030204"/>
              </a:rPr>
              <a:t>Fitter individuals are chosen as parents (tournament / roulette)</a:t>
            </a:r>
            <a:endParaRPr sz="1050" b="0" i="0">
              <a:solidFill>
                <a:srgbClr val="D8EE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0056" y="25146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7BB"/>
                </a:solidFill>
                <a:latin typeface="Calibri" panose="020F0502020204030204"/>
              </a:rPr>
              <a:t>→</a:t>
            </a:r>
            <a:endParaRPr sz="1800" b="1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21208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02A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41848" y="1298448"/>
            <a:ext cx="548640" cy="548640"/>
          </a:xfrm>
          <a:prstGeom prst="ellipse">
            <a:avLst/>
          </a:prstGeom>
          <a:solidFill>
            <a:srgbClr val="E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243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A860"/>
                </a:solidFill>
                <a:latin typeface="Cambria" panose="02040503050406030204"/>
              </a:rPr>
              <a:t>4</a:t>
            </a:r>
            <a:endParaRPr sz="1400" b="1" i="0">
              <a:solidFill>
                <a:srgbClr val="02A860"/>
              </a:solidFill>
              <a:latin typeface="Cambria" panose="02040503050406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0352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Crossover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0352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8EEFF"/>
                </a:solidFill>
                <a:latin typeface="Calibri" panose="020F0502020204030204"/>
              </a:rPr>
              <a:t>Parent genomes are combined to create offspring</a:t>
            </a:r>
            <a:endParaRPr sz="1050" b="0" i="0">
              <a:solidFill>
                <a:srgbClr val="D8EEF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65976" y="25146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7BB"/>
                </a:solidFill>
                <a:latin typeface="Calibri" panose="020F0502020204030204"/>
              </a:rPr>
              <a:t>→</a:t>
            </a:r>
            <a:endParaRPr sz="1800" b="1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85800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87768" y="1298448"/>
            <a:ext cx="548640" cy="548640"/>
          </a:xfrm>
          <a:prstGeom prst="ellipse">
            <a:avLst/>
          </a:prstGeom>
          <a:solidFill>
            <a:srgbClr val="E0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A0"/>
                </a:solidFill>
                <a:latin typeface="Cambria" panose="02040503050406030204"/>
              </a:rPr>
              <a:t>5</a:t>
            </a:r>
            <a:endParaRPr sz="1400" b="1" i="0">
              <a:solidFill>
                <a:srgbClr val="02C3A0"/>
              </a:solidFill>
              <a:latin typeface="Cambria" panose="02040503050406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4944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Mutation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4944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8EEFF"/>
                </a:solidFill>
                <a:latin typeface="Calibri" panose="020F0502020204030204"/>
              </a:rPr>
              <a:t>Random gene flips introduce diversity, avoiding local optima</a:t>
            </a:r>
            <a:endParaRPr sz="1050" b="0" i="0">
              <a:solidFill>
                <a:srgbClr val="D8EEFF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74320" y="4160520"/>
            <a:ext cx="8595360" cy="777240"/>
          </a:xfrm>
          <a:prstGeom prst="roundRect">
            <a:avLst>
              <a:gd name="adj" fmla="val 5000"/>
            </a:avLst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F4A"/>
                </a:solidFill>
                <a:latin typeface="Calibri" panose="020F0502020204030204"/>
              </a:rPr>
              <a:t>Iteration loop:  Evaluate → Select → Crossover → Mutate  until stopping criterion is met</a:t>
            </a:r>
            <a:endParaRPr sz="1200" b="0" i="1">
              <a:solidFill>
                <a:srgbClr val="1A1F4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51560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Genetic Algorithm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C8F5"/>
                </a:solidFill>
                <a:latin typeface="Calibri" panose="020F0502020204030204"/>
              </a:rPr>
              <a:t>Applied to Permutation Flow Shop Scheduling (PFSP)</a:t>
            </a:r>
            <a:endParaRPr sz="1300" b="0" i="1">
              <a:solidFill>
                <a:srgbClr val="A8C8F5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84048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4A"/>
                </a:solidFill>
                <a:latin typeface="Cambria" panose="02040503050406030204"/>
              </a:rPr>
              <a:t>Algorithm Parameters</a:t>
            </a:r>
            <a:endParaRPr sz="1400" b="1" i="0">
              <a:solidFill>
                <a:srgbClr val="1A1F4A"/>
              </a:solidFill>
              <a:latin typeface="Cambria" panose="02040503050406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3474720" cy="18288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Population Size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744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50 individuals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Iterations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100 generations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Base Mutation Rate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744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0.10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1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Local Search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77440" y="324611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Heavy (all agents)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Extinction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77440" y="3657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Off (interval = 0)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43400" y="1188720"/>
            <a:ext cx="452628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280160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4A"/>
                </a:solidFill>
                <a:latin typeface="Cambria" panose="02040503050406030204"/>
              </a:rPr>
              <a:t>Optimization Results</a:t>
            </a:r>
            <a:endParaRPr sz="1400" b="1" i="0">
              <a:solidFill>
                <a:srgbClr val="1A1F4A"/>
              </a:solidFill>
              <a:latin typeface="Cambria" panose="02040503050406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26280" y="1801368"/>
            <a:ext cx="4160520" cy="1828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6280" y="1920240"/>
            <a:ext cx="3977639" cy="118872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05740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96167"/>
                </a:solidFill>
                <a:latin typeface="Cambria" panose="02040503050406030204"/>
              </a:rPr>
              <a:t>121.00</a:t>
            </a:r>
            <a:endParaRPr sz="4000" b="1" i="0">
              <a:solidFill>
                <a:srgbClr val="F96167"/>
              </a:solidFill>
              <a:latin typeface="Cambria" panose="02040503050406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6280" y="278892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7BB"/>
                </a:solidFill>
                <a:latin typeface="Calibri" panose="020F0502020204030204"/>
              </a:rPr>
              <a:t>Best Makespan (avg completion time)</a:t>
            </a:r>
            <a:endParaRPr sz="11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26280" y="3246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Optimal Sequence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3246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J5 → J2 → J4 → J3 → J1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6280" y="3657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Optimum Found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3657600"/>
            <a:ext cx="20116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Iteration </a:t>
            </a:r>
            <a:r>
              <a:rPr lang="tr-TR" sz="1200" b="1" i="0">
                <a:solidFill>
                  <a:srgbClr val="1A1F4A"/>
                </a:solidFill>
                <a:latin typeface="Calibri" panose="020F0502020204030204"/>
              </a:rPr>
              <a:t>1</a:t>
            </a:r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 of 100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26280" y="4069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Execution Time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20116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200" b="1" i="0">
                <a:solidFill>
                  <a:srgbClr val="1A1F4A"/>
                </a:solidFill>
                <a:latin typeface="Calibri" panose="020F0502020204030204"/>
              </a:rPr>
              <a:t>0.5</a:t>
            </a:r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 seconds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26280" y="44805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Problem Size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2240" y="4480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5 jobs × 3 machines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51560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Genetic Algorithm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C8F5"/>
                </a:solidFill>
                <a:latin typeface="Calibri" panose="020F0502020204030204"/>
              </a:rPr>
              <a:t>Applied to Permutation Flow Shop Scheduling (PFSP)</a:t>
            </a:r>
            <a:endParaRPr sz="1300" b="0" i="1">
              <a:solidFill>
                <a:srgbClr val="A8C8F5"/>
              </a:solidFill>
              <a:latin typeface="Calibri" panose="020F0502020204030204"/>
            </a:endParaRPr>
          </a:p>
        </p:txBody>
      </p:sp>
      <p:pic>
        <p:nvPicPr>
          <p:cNvPr id="36" name="Picture 35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295" y="1130046"/>
            <a:ext cx="6651410" cy="386984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505" y="1130300"/>
            <a:ext cx="6653530" cy="3877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515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Ant Colony Optimization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4C4"/>
                </a:solidFill>
                <a:latin typeface="Calibri" panose="020F0502020204030204"/>
              </a:rPr>
              <a:t>How it works</a:t>
            </a:r>
            <a:endParaRPr sz="1300" b="0" i="1">
              <a:solidFill>
                <a:srgbClr val="FFC4C4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9B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29844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2A2A"/>
                </a:solidFill>
                <a:latin typeface="Cambria" panose="02040503050406030204"/>
              </a:rPr>
              <a:t>1</a:t>
            </a:r>
            <a:endParaRPr sz="1400" b="1" i="0">
              <a:solidFill>
                <a:srgbClr val="9B2A2A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Initialise
Pheromone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DED8"/>
                </a:solidFill>
                <a:latin typeface="Calibri" panose="020F0502020204030204"/>
              </a:rPr>
              <a:t>τ(i,j) = 1 for all edges; set α, β, ρ, Q</a:t>
            </a:r>
            <a:endParaRPr sz="1050" b="0" i="0">
              <a:solidFill>
                <a:srgbClr val="FFDED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28216" y="25146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7BB"/>
                </a:solidFill>
                <a:latin typeface="Calibri" panose="020F0502020204030204"/>
              </a:rPr>
              <a:t>→</a:t>
            </a:r>
            <a:endParaRPr sz="1800" b="1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2024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C0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50008" y="129844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A30"/>
                </a:solidFill>
                <a:latin typeface="Cambria" panose="02040503050406030204"/>
              </a:rPr>
              <a:t>2</a:t>
            </a:r>
            <a:endParaRPr sz="1400" b="1" i="0">
              <a:solidFill>
                <a:srgbClr val="C03A30"/>
              </a:solidFill>
              <a:latin typeface="Cambria" panose="02040503050406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Construct
Solutions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1168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DED8"/>
                </a:solidFill>
                <a:latin typeface="Calibri" panose="020F0502020204030204"/>
              </a:rPr>
              <a:t>Each ant builds a path using p ∝ τ^α · η^β</a:t>
            </a:r>
            <a:endParaRPr sz="1050" b="0" i="0">
              <a:solidFill>
                <a:srgbClr val="FFDED8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74136" y="25146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7BB"/>
                </a:solidFill>
                <a:latin typeface="Calibri" panose="020F0502020204030204"/>
              </a:rPr>
              <a:t>→</a:t>
            </a:r>
            <a:endParaRPr sz="1800" b="1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56616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D45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95928" y="129844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651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5535"/>
                </a:solidFill>
                <a:latin typeface="Cambria" panose="02040503050406030204"/>
              </a:rPr>
              <a:t>3</a:t>
            </a:r>
            <a:endParaRPr sz="1400" b="1" i="0">
              <a:solidFill>
                <a:srgbClr val="D45535"/>
              </a:solidFill>
              <a:latin typeface="Cambria" panose="02040503050406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Local
Search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DED8"/>
                </a:solidFill>
                <a:latin typeface="Calibri" panose="020F0502020204030204"/>
              </a:rPr>
              <a:t>30% of ants apply 2-opt to refine their tour</a:t>
            </a:r>
            <a:endParaRPr sz="1050" b="0" i="0">
              <a:solidFill>
                <a:srgbClr val="FFDED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0056" y="25146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7BB"/>
                </a:solidFill>
                <a:latin typeface="Calibri" panose="020F0502020204030204"/>
              </a:rPr>
              <a:t>→</a:t>
            </a:r>
            <a:endParaRPr sz="1800" b="1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21208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E86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41848" y="129844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243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6540"/>
                </a:solidFill>
                <a:latin typeface="Cambria" panose="02040503050406030204"/>
              </a:rPr>
              <a:t>4</a:t>
            </a:r>
            <a:endParaRPr sz="1400" b="1" i="0">
              <a:solidFill>
                <a:srgbClr val="E86540"/>
              </a:solidFill>
              <a:latin typeface="Cambria" panose="02040503050406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0352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Update
Pheromones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0352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DED8"/>
                </a:solidFill>
                <a:latin typeface="Calibri" panose="020F0502020204030204"/>
              </a:rPr>
              <a:t>τ ← τ·(1−ρ) + Q/makespan per ant</a:t>
            </a:r>
            <a:endParaRPr sz="1050" b="0" i="0">
              <a:solidFill>
                <a:srgbClr val="FFDED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65976" y="25146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7BB"/>
                </a:solidFill>
                <a:latin typeface="Calibri" panose="020F0502020204030204"/>
              </a:rPr>
              <a:t>→</a:t>
            </a:r>
            <a:endParaRPr sz="1800" b="1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858000" y="1188720"/>
            <a:ext cx="1417320" cy="283464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87768" y="129844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13898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6167"/>
                </a:solidFill>
                <a:latin typeface="Cambria" panose="02040503050406030204"/>
              </a:rPr>
              <a:t>5</a:t>
            </a:r>
            <a:endParaRPr sz="1400" b="1" i="0">
              <a:solidFill>
                <a:srgbClr val="F96167"/>
              </a:solidFill>
              <a:latin typeface="Cambria" panose="02040503050406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49440" y="1993392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 panose="02040503050406030204"/>
              </a:rPr>
              <a:t>Elite
Reinforce</a:t>
            </a:r>
            <a:endParaRPr sz="13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49440" y="2761488"/>
            <a:ext cx="1234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DED8"/>
                </a:solidFill>
                <a:latin typeface="Calibri" panose="020F0502020204030204"/>
              </a:rPr>
              <a:t>Best-ever tour gets extra deposit: w·Q/best</a:t>
            </a:r>
            <a:endParaRPr sz="1050" b="0" i="0">
              <a:solidFill>
                <a:srgbClr val="FFDED8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74320" y="4160520"/>
            <a:ext cx="8595360" cy="777240"/>
          </a:xfrm>
          <a:prstGeom prst="roundRect">
            <a:avLst>
              <a:gd name="adj" fmla="val 5000"/>
            </a:avLst>
          </a:prstGeom>
          <a:solidFill>
            <a:srgbClr val="FF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251960"/>
            <a:ext cx="82296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0" i="1">
                <a:solidFill>
                  <a:srgbClr val="1A1F4A"/>
                </a:solidFill>
                <a:latin typeface="Calibri" panose="020F0502020204030204"/>
              </a:rPr>
              <a:t>Probability selection equation</a:t>
            </a:r>
            <a:r>
              <a:rPr sz="1200" b="0" i="1">
                <a:solidFill>
                  <a:srgbClr val="1A1F4A"/>
                </a:solidFill>
                <a:latin typeface="Calibri" panose="020F0502020204030204"/>
              </a:rPr>
              <a:t>:  p(i→j) = [ τ(i,j)^α · η(i,j)^β ] / Σ [ τ(i,l)^α · η(i,l)^β ]</a:t>
            </a:r>
            <a:endParaRPr sz="1200" b="0" i="1">
              <a:solidFill>
                <a:srgbClr val="1A1F4A"/>
              </a:solidFill>
              <a:latin typeface="Calibri" panose="020F0502020204030204"/>
            </a:endParaRPr>
          </a:p>
          <a:p>
            <a:pPr algn="ctr"/>
            <a:r>
              <a:rPr lang="tr-TR" sz="1200" b="0" i="1">
                <a:solidFill>
                  <a:srgbClr val="1A1F4A"/>
                </a:solidFill>
                <a:latin typeface="Calibri" panose="020F0502020204030204"/>
              </a:rPr>
              <a:t>Pheromone Update: </a:t>
            </a:r>
            <a:r>
              <a:rPr sz="1200" i="1">
                <a:solidFill>
                  <a:srgbClr val="1A1F4A"/>
                </a:solidFill>
                <a:latin typeface="Calibri" panose="020F0502020204030204"/>
                <a:sym typeface="+mn-ea"/>
              </a:rPr>
              <a:t>τ(i,j)</a:t>
            </a:r>
            <a:r>
              <a:rPr lang="tr-TR" sz="1200" i="1">
                <a:solidFill>
                  <a:srgbClr val="1A1F4A"/>
                </a:solidFill>
                <a:latin typeface="Calibri" panose="020F0502020204030204"/>
                <a:sym typeface="+mn-ea"/>
              </a:rPr>
              <a:t> = </a:t>
            </a:r>
            <a:r>
              <a:rPr sz="1200" i="1">
                <a:solidFill>
                  <a:srgbClr val="1A1F4A"/>
                </a:solidFill>
                <a:latin typeface="Calibri" panose="020F0502020204030204"/>
                <a:sym typeface="+mn-ea"/>
              </a:rPr>
              <a:t>τ(i,j)</a:t>
            </a:r>
            <a:r>
              <a:rPr lang="tr-TR" sz="1200" i="1">
                <a:solidFill>
                  <a:srgbClr val="1A1F4A"/>
                </a:solidFill>
                <a:latin typeface="Calibri" panose="020F0502020204030204"/>
                <a:sym typeface="+mn-ea"/>
              </a:rPr>
              <a:t>(1-p) + </a:t>
            </a:r>
            <a:r>
              <a:rPr sz="1200" i="1">
                <a:solidFill>
                  <a:srgbClr val="1A1F4A"/>
                </a:solidFill>
                <a:latin typeface="Calibri" panose="020F0502020204030204"/>
                <a:sym typeface="+mn-ea"/>
              </a:rPr>
              <a:t>Σ</a:t>
            </a:r>
            <a:r>
              <a:rPr lang="tr-TR" sz="1200" i="1">
                <a:solidFill>
                  <a:srgbClr val="1A1F4A"/>
                </a:solidFill>
                <a:latin typeface="Calibri" panose="020F0502020204030204"/>
                <a:sym typeface="+mn-ea"/>
              </a:rPr>
              <a:t> [ Q/makespan_k + 2Q/best_makespan]</a:t>
            </a:r>
            <a:endParaRPr lang="tr-TR" sz="1200" b="0" i="1">
              <a:solidFill>
                <a:srgbClr val="1A1F4A"/>
              </a:solidFill>
              <a:latin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515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Ant Colony Optimization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4C4"/>
                </a:solidFill>
                <a:latin typeface="Calibri" panose="020F0502020204030204"/>
              </a:rPr>
              <a:t>Applied to Permutation Flow Shop Scheduling (PFSP)</a:t>
            </a:r>
            <a:endParaRPr sz="1300" b="0" i="1">
              <a:solidFill>
                <a:srgbClr val="FFC4C4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84048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4A"/>
                </a:solidFill>
                <a:latin typeface="Cambria" panose="02040503050406030204"/>
              </a:rPr>
              <a:t>Algorithm Parameters</a:t>
            </a:r>
            <a:endParaRPr sz="1400" b="1" i="0">
              <a:solidFill>
                <a:srgbClr val="1A1F4A"/>
              </a:solidFill>
              <a:latin typeface="Cambria" panose="02040503050406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801368"/>
            <a:ext cx="3474720" cy="1828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Ants (colony size)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1920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20 ants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Iterations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8880" y="2377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100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α (pheromone weight)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8880" y="2834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1.0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β (heuristic weight)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3291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2.0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ρ (evaporation rate)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68880" y="37490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0.10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Local Search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68880" y="4206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2-opt on 30% of ants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43400" y="1188720"/>
            <a:ext cx="452628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1280160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4A"/>
                </a:solidFill>
                <a:latin typeface="Cambria" panose="02040503050406030204"/>
              </a:rPr>
              <a:t>Optimization Results</a:t>
            </a:r>
            <a:endParaRPr sz="1400" b="1" i="0">
              <a:solidFill>
                <a:srgbClr val="1A1F4A"/>
              </a:solidFill>
              <a:latin typeface="Cambria" panose="02040503050406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26280" y="1801368"/>
            <a:ext cx="4160520" cy="18288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26280" y="1920240"/>
            <a:ext cx="3977639" cy="1188720"/>
          </a:xfrm>
          <a:prstGeom prst="roundRect">
            <a:avLst>
              <a:gd name="adj" fmla="val 5000"/>
            </a:avLst>
          </a:prstGeom>
          <a:solidFill>
            <a:srgbClr val="E8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057400"/>
            <a:ext cx="3977639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4000" b="1" i="0">
                <a:solidFill>
                  <a:srgbClr val="02C3A0"/>
                </a:solidFill>
                <a:latin typeface="Cambria" panose="02040503050406030204"/>
              </a:rPr>
              <a:t>121.00</a:t>
            </a:r>
            <a:endParaRPr lang="tr-TR" sz="4000" b="1" i="0">
              <a:solidFill>
                <a:srgbClr val="02C3A0"/>
              </a:solidFill>
              <a:latin typeface="Cambria" panose="02040503050406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6280" y="2788920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7BB"/>
                </a:solidFill>
                <a:latin typeface="Calibri" panose="020F0502020204030204"/>
              </a:rPr>
              <a:t>Best Makespan (avg completion time)</a:t>
            </a:r>
            <a:endParaRPr sz="11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26280" y="3246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Optimal Sequence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3246120"/>
            <a:ext cx="20116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J</a:t>
            </a:r>
            <a:r>
              <a:rPr lang="tr-TR" sz="1200" b="1" i="0">
                <a:solidFill>
                  <a:srgbClr val="1A1F4A"/>
                </a:solidFill>
                <a:latin typeface="Calibri" panose="020F0502020204030204"/>
              </a:rPr>
              <a:t>5</a:t>
            </a:r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 → J</a:t>
            </a:r>
            <a:r>
              <a:rPr lang="tr-TR" sz="1200" b="1" i="0">
                <a:solidFill>
                  <a:srgbClr val="1A1F4A"/>
                </a:solidFill>
                <a:latin typeface="Calibri" panose="020F0502020204030204"/>
              </a:rPr>
              <a:t>2</a:t>
            </a:r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 → J4 → J3</a:t>
            </a:r>
            <a:r>
              <a:rPr lang="tr-TR" sz="1200" b="1" i="0">
                <a:solidFill>
                  <a:srgbClr val="1A1F4A"/>
                </a:solidFill>
                <a:latin typeface="Calibri" panose="020F0502020204030204"/>
              </a:rPr>
              <a:t> </a:t>
            </a:r>
            <a:r>
              <a:rPr sz="1200" b="1">
                <a:solidFill>
                  <a:srgbClr val="1A1F4A"/>
                </a:solidFill>
                <a:latin typeface="Calibri" panose="020F0502020204030204"/>
                <a:sym typeface="+mn-ea"/>
              </a:rPr>
              <a:t>→</a:t>
            </a:r>
            <a:r>
              <a:rPr lang="tr-TR" sz="1200" b="1">
                <a:solidFill>
                  <a:srgbClr val="1A1F4A"/>
                </a:solidFill>
                <a:latin typeface="Calibri" panose="020F0502020204030204"/>
                <a:sym typeface="+mn-ea"/>
              </a:rPr>
              <a:t> J1</a:t>
            </a:r>
            <a:endParaRPr lang="tr-TR" sz="1200" b="1" i="0">
              <a:solidFill>
                <a:srgbClr val="1A1F4A"/>
              </a:solidFill>
              <a:latin typeface="Calibri" panose="020F0502020204030204"/>
              <a:sym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6280" y="3657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Optimum Found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3657600"/>
            <a:ext cx="20116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Iteration </a:t>
            </a:r>
            <a:r>
              <a:rPr lang="tr-TR" sz="1200" b="1" i="0">
                <a:solidFill>
                  <a:srgbClr val="1A1F4A"/>
                </a:solidFill>
                <a:latin typeface="Calibri" panose="020F0502020204030204"/>
              </a:rPr>
              <a:t>1</a:t>
            </a:r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 of 100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26280" y="4069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Execution Time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20116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200" b="1" i="0">
                <a:solidFill>
                  <a:srgbClr val="1A1F4A"/>
                </a:solidFill>
                <a:latin typeface="Calibri" panose="020F0502020204030204"/>
              </a:rPr>
              <a:t>0.64 </a:t>
            </a:r>
            <a:r>
              <a:rPr sz="1200" b="1" i="0">
                <a:solidFill>
                  <a:srgbClr val="1A1F4A"/>
                </a:solidFill>
                <a:latin typeface="Calibri" panose="020F0502020204030204"/>
              </a:rPr>
              <a:t>seconds</a:t>
            </a:r>
            <a:endParaRPr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26280" y="44805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7BB"/>
                </a:solidFill>
                <a:latin typeface="Calibri" panose="020F0502020204030204"/>
              </a:rPr>
              <a:t>Problem Size</a:t>
            </a:r>
            <a:endParaRPr sz="1200" b="0" i="0">
              <a:solidFill>
                <a:srgbClr val="8A97BB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2240" y="4480560"/>
            <a:ext cx="20116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200" b="1" i="0">
                <a:solidFill>
                  <a:srgbClr val="1A1F4A"/>
                </a:solidFill>
                <a:latin typeface="Calibri" panose="020F0502020204030204"/>
              </a:rPr>
              <a:t>5 jobs x 3 machines</a:t>
            </a:r>
            <a:endParaRPr lang="tr-TR" sz="1200" b="1" i="0">
              <a:solidFill>
                <a:srgbClr val="1A1F4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515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Ant Colony Optimization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4C4"/>
                </a:solidFill>
                <a:latin typeface="Calibri" panose="020F0502020204030204"/>
              </a:rPr>
              <a:t>Applied to Permutation Flow Shop Scheduling (PFSP)</a:t>
            </a:r>
            <a:endParaRPr sz="1300" b="0" i="1">
              <a:solidFill>
                <a:srgbClr val="FFC4C4"/>
              </a:solidFill>
              <a:latin typeface="Calibri" panose="020F0502020204030204"/>
            </a:endParaRPr>
          </a:p>
        </p:txBody>
      </p:sp>
      <p:pic>
        <p:nvPicPr>
          <p:cNvPr id="36" name="Picture 35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648" y="1169454"/>
            <a:ext cx="7156704" cy="3809454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75" y="1169670"/>
            <a:ext cx="7155815" cy="385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GA vs ACO — Comparison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pic>
        <p:nvPicPr>
          <p:cNvPr id="41" name="Resim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" y="1176020"/>
            <a:ext cx="8809355" cy="3816350"/>
          </a:xfrm>
          <a:prstGeom prst="rect">
            <a:avLst/>
          </a:prstGeom>
        </p:spPr>
      </p:pic>
      <p:pic>
        <p:nvPicPr>
          <p:cNvPr id="42" name="Resim 41" descr="WhatsApp Image 2026-06-17 at 22.16.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1176020"/>
            <a:ext cx="8790940" cy="3825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9047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GA vs ACO — Comparison</a:t>
            </a:r>
            <a:r>
              <a:rPr lang="tr-TR" sz="3000" b="1" i="0">
                <a:solidFill>
                  <a:srgbClr val="FFFFFF"/>
                </a:solidFill>
                <a:latin typeface="Cambria" panose="02040503050406030204"/>
              </a:rPr>
              <a:t> (Different Iterations)</a:t>
            </a:r>
            <a:endParaRPr lang="tr-TR"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pic>
        <p:nvPicPr>
          <p:cNvPr id="41" name="Resim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209040"/>
            <a:ext cx="8892540" cy="3604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1582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GA vs ACO — Comparison</a:t>
            </a:r>
            <a:r>
              <a:rPr lang="tr-TR" sz="3000" b="1" i="0">
                <a:solidFill>
                  <a:srgbClr val="FFFFFF"/>
                </a:solidFill>
                <a:latin typeface="Cambria" panose="02040503050406030204"/>
              </a:rPr>
              <a:t> (More ants)</a:t>
            </a:r>
            <a:endParaRPr lang="tr-TR"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" y="1214755"/>
            <a:ext cx="865251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1582"/>
            <a:ext cx="82296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GA vs ACO — Comparison</a:t>
            </a:r>
            <a:r>
              <a:rPr lang="tr-TR" sz="3000" b="1" i="0">
                <a:solidFill>
                  <a:srgbClr val="FFFFFF"/>
                </a:solidFill>
                <a:latin typeface="Cambria" panose="02040503050406030204"/>
              </a:rPr>
              <a:t> (Bigger population)</a:t>
            </a:r>
            <a:endParaRPr lang="tr-TR"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" y="1214755"/>
            <a:ext cx="8652510" cy="34861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" y="1214755"/>
            <a:ext cx="8667750" cy="34937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 panose="02040503050406030204"/>
              </a:rPr>
              <a:t>Wrap-Up &amp; Conclusions</a:t>
            </a:r>
            <a:endParaRPr sz="34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9496" y="1289304"/>
            <a:ext cx="292608" cy="292608"/>
          </a:xfrm>
          <a:prstGeom prst="ellipse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FF"/>
                </a:solidFill>
                <a:latin typeface="Calibri" panose="020F0502020204030204"/>
              </a:rPr>
              <a:t>Both GA and ACO find near-optimal solutions for the PFSP where traditional exhaustive search is infeasible.</a:t>
            </a:r>
            <a:endParaRPr sz="1300" b="0" i="0">
              <a:solidFill>
                <a:srgbClr val="D4DC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39496" y="1850136"/>
            <a:ext cx="292608" cy="292608"/>
          </a:xfrm>
          <a:prstGeom prst="ellipse">
            <a:avLst/>
          </a:prstGeom>
          <a:solidFill>
            <a:srgbClr val="5A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79527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DCFF"/>
                </a:solidFill>
                <a:latin typeface="Calibri" panose="020F0502020204030204"/>
              </a:rPr>
              <a:t>Nature-inspired algorithms are complementary: GA excels at general-purpose optimisation; ACO excels at combinatorial path/schedule problems.</a:t>
            </a:r>
            <a:endParaRPr sz="1300" b="0" i="0">
              <a:solidFill>
                <a:srgbClr val="D4DCFF"/>
              </a:solidFill>
              <a:latin typeface="Calibri" panose="020F0502020204030204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1005840" y="2427097"/>
            <a:ext cx="77724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tr-TR" sz="1300" b="0" i="0">
                <a:solidFill>
                  <a:srgbClr val="D4DCFF"/>
                </a:solidFill>
                <a:latin typeface="Calibri" panose="020F0502020204030204"/>
              </a:rPr>
              <a:t>GA's crossover destroys the job adjacency relationships that make solutions good, while ACO's pheromone matrix explicitly learns and preserves those relationships across iterations.</a:t>
            </a:r>
            <a:endParaRPr lang="en-US" altLang="tr-TR" sz="1300" b="0" i="0">
              <a:solidFill>
                <a:srgbClr val="D4DCFF"/>
              </a:solidFill>
              <a:latin typeface="Calibri" panose="020F050202020403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9496" y="2525776"/>
            <a:ext cx="292608" cy="292608"/>
          </a:xfrm>
          <a:prstGeom prst="ellipse">
            <a:avLst/>
          </a:prstGeom>
          <a:solidFill>
            <a:srgbClr val="5A9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4"/>
          <p:cNvSpPr txBox="1"/>
          <p:nvPr/>
        </p:nvSpPr>
        <p:spPr>
          <a:xfrm>
            <a:off x="579120" y="3090545"/>
            <a:ext cx="7986395" cy="6210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tr-TR" sz="1300" b="1" i="0">
                <a:solidFill>
                  <a:srgbClr val="D4DCFF"/>
                </a:solidFill>
                <a:latin typeface="Calibri" panose="020F0502020204030204"/>
              </a:rPr>
              <a:t>ACO wins here because its memory structure directly matches what this problem is actually asking, and GA's crossover </a:t>
            </a:r>
            <a:r>
              <a:rPr lang="tr-TR" altLang="en-US" sz="1300" b="1" i="0">
                <a:solidFill>
                  <a:srgbClr val="D4DCFF"/>
                </a:solidFill>
                <a:latin typeface="Calibri" panose="020F0502020204030204"/>
              </a:rPr>
              <a:t>leads to</a:t>
            </a:r>
            <a:r>
              <a:rPr lang="en-US" altLang="tr-TR" sz="1300" b="1" i="0">
                <a:solidFill>
                  <a:srgbClr val="D4DCFF"/>
                </a:solidFill>
                <a:latin typeface="Calibri" panose="020F0502020204030204"/>
              </a:rPr>
              <a:t> </a:t>
            </a:r>
            <a:r>
              <a:rPr lang="tr-TR" altLang="en-US" sz="1300" b="1" i="0">
                <a:solidFill>
                  <a:srgbClr val="D4DCFF"/>
                </a:solidFill>
                <a:latin typeface="Calibri" panose="020F0502020204030204"/>
              </a:rPr>
              <a:t>situations where </a:t>
            </a:r>
            <a:r>
              <a:rPr lang="en-US" altLang="tr-TR" sz="1300" b="1" i="0">
                <a:solidFill>
                  <a:srgbClr val="D4DCFF"/>
                </a:solidFill>
                <a:latin typeface="Calibri" panose="020F0502020204030204"/>
              </a:rPr>
              <a:t>information tha</a:t>
            </a:r>
            <a:r>
              <a:rPr lang="tr-TR" altLang="en-US" sz="1300" b="1" i="0">
                <a:solidFill>
                  <a:srgbClr val="D4DCFF"/>
                </a:solidFill>
                <a:latin typeface="Calibri" panose="020F0502020204030204"/>
              </a:rPr>
              <a:t>t matters may be lost</a:t>
            </a:r>
            <a:r>
              <a:rPr lang="en-US" altLang="tr-TR" sz="1300" b="1" i="0">
                <a:solidFill>
                  <a:srgbClr val="D4DCFF"/>
                </a:solidFill>
                <a:latin typeface="Calibri" panose="020F0502020204030204"/>
              </a:rPr>
              <a:t>.</a:t>
            </a:r>
            <a:endParaRPr lang="en-US" altLang="tr-TR" sz="1300" b="1" i="0">
              <a:solidFill>
                <a:srgbClr val="D4DC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 panose="02040503050406030204"/>
              </a:rPr>
              <a:t>References</a:t>
            </a:r>
            <a:endParaRPr sz="3000" b="1" i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8595360" cy="5486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21054"/>
            <a:ext cx="8321040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F4A"/>
                </a:solidFill>
                <a:latin typeface="Calibri" panose="020F0502020204030204"/>
                <a:sym typeface="+mn-ea"/>
              </a:rPr>
              <a:t>[</a:t>
            </a:r>
            <a:r>
              <a:rPr lang="tr-TR" sz="1100">
                <a:solidFill>
                  <a:srgbClr val="1A1F4A"/>
                </a:solidFill>
                <a:latin typeface="Calibri" panose="020F0502020204030204"/>
                <a:sym typeface="+mn-ea"/>
              </a:rPr>
              <a:t>1</a:t>
            </a:r>
            <a:r>
              <a:rPr sz="1100">
                <a:solidFill>
                  <a:srgbClr val="1A1F4A"/>
                </a:solidFill>
                <a:latin typeface="Calibri" panose="020F0502020204030204"/>
                <a:sym typeface="+mn-ea"/>
              </a:rPr>
              <a:t>]  </a:t>
            </a:r>
            <a:r>
              <a:rPr lang="en-US" altLang="tr-TR" sz="1100" b="0" i="0">
                <a:solidFill>
                  <a:srgbClr val="1A1F4A"/>
                </a:solidFill>
                <a:latin typeface="Calibri" panose="020F0502020204030204"/>
              </a:rPr>
              <a:t>Wikipedia Contributors. (2019). Ant colony optimization algorithms. Wikipedia; Wikimedia Foundation. </a:t>
            </a:r>
            <a:endParaRPr lang="en-US" altLang="tr-TR" sz="1100" b="0" i="0">
              <a:solidFill>
                <a:srgbClr val="1A1F4A"/>
              </a:solidFill>
              <a:latin typeface="Calibri" panose="020F0502020204030204"/>
            </a:endParaRPr>
          </a:p>
          <a:p>
            <a:pPr algn="l"/>
            <a:endParaRPr lang="en-US" altLang="tr-TR" sz="1100" b="0" i="0">
              <a:solidFill>
                <a:srgbClr val="1A1F4A"/>
              </a:solidFill>
              <a:latin typeface="Calibri" panose="020F0502020204030204"/>
            </a:endParaRPr>
          </a:p>
          <a:p>
            <a:pPr algn="l"/>
            <a:r>
              <a:rPr lang="en-US" altLang="tr-TR" sz="1100" b="0" i="0">
                <a:solidFill>
                  <a:srgbClr val="1A1F4A"/>
                </a:solidFill>
                <a:latin typeface="Calibri" panose="020F0502020204030204"/>
              </a:rPr>
              <a:t>‌</a:t>
            </a:r>
            <a:endParaRPr lang="en-US" altLang="tr-TR" sz="1100" b="0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859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65376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4A"/>
                </a:solidFill>
                <a:latin typeface="Calibri" panose="020F0502020204030204"/>
              </a:rPr>
              <a:t>[2]  Dorigo, M. &amp; Stützle, T. (2004). Ant Colony Optimization. MIT Press.</a:t>
            </a:r>
            <a:endParaRPr sz="1100" b="0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8595360" cy="5486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8716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4A"/>
                </a:solidFill>
                <a:latin typeface="Calibri" panose="020F0502020204030204"/>
              </a:rPr>
              <a:t>[3]  Nawaz, M., Enscore, E. E., &amp; Ham, I. (1983). A heuristic algorithm for the m-machine, n-job flow-shop sequencing problem. Omega, 11(1), 91–95.</a:t>
            </a:r>
            <a:endParaRPr sz="1100" b="0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859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108960"/>
            <a:ext cx="832104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altLang="en-US" sz="1100" b="0" i="0">
                <a:solidFill>
                  <a:srgbClr val="1A1F4A"/>
                </a:solidFill>
                <a:latin typeface="Calibri" panose="020F0502020204030204"/>
              </a:rPr>
              <a:t>[4] </a:t>
            </a:r>
            <a:r>
              <a:rPr lang="en-US" altLang="tr-TR" sz="1100" b="0" i="0">
                <a:solidFill>
                  <a:srgbClr val="1A1F4A"/>
                </a:solidFill>
                <a:latin typeface="Calibri" panose="020F0502020204030204"/>
              </a:rPr>
              <a:t>Fink, A. (2006). Supply chain coordination by means of automated negotiations between autonomous agents. In Multiagent based supply chain management (pp. 351-372). Berlin, Heidelberg: Springer Berlin Heidelberg.</a:t>
            </a:r>
            <a:endParaRPr lang="en-US" altLang="tr-TR" sz="1100" b="0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8595360" cy="5486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730752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4A"/>
                </a:solidFill>
                <a:latin typeface="Calibri" panose="020F0502020204030204"/>
              </a:rPr>
              <a:t>[5]  Dorigo, M., Maniezzo, V., &amp; Colorni, A. (1996). Ant system: Optimization by a colony of cooperating agents. IEEE Trans. Systems, Man, and Cybernetics, 26(1), 29–41.</a:t>
            </a:r>
            <a:endParaRPr sz="1100" b="0" i="0">
              <a:solidFill>
                <a:srgbClr val="1A1F4A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352544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4A"/>
                </a:solidFill>
                <a:latin typeface="Calibri" panose="020F0502020204030204"/>
              </a:rPr>
              <a:t>[6]  Goldberg, D. E. (1989). Genetic Algorithms in Search, Optimization, and Machine Learning. Addison-Wesley.</a:t>
            </a:r>
            <a:endParaRPr sz="1100" b="0" i="0">
              <a:solidFill>
                <a:srgbClr val="1A1F4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2103120"/>
            <a:ext cx="4023360" cy="4023360"/>
          </a:xfrm>
          <a:prstGeom prst="ellipse">
            <a:avLst/>
          </a:prstGeom>
          <a:solidFill>
            <a:srgbClr val="2A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0" y="-457200"/>
            <a:ext cx="2743200" cy="2743200"/>
          </a:xfrm>
          <a:prstGeom prst="ellipse">
            <a:avLst/>
          </a:prstGeom>
          <a:solidFill>
            <a:srgbClr val="2A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80960" y="3657600"/>
            <a:ext cx="1463040" cy="1463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7315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i="0" dirty="0">
                <a:solidFill>
                  <a:srgbClr val="FFFFFF"/>
                </a:solidFill>
                <a:latin typeface="Cambria" panose="02040503050406030204"/>
              </a:rPr>
              <a:t>Thank You</a:t>
            </a:r>
            <a:endParaRPr sz="6000" b="1" i="0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0" y="3429000"/>
            <a:ext cx="4572000" cy="18288"/>
          </a:xfrm>
          <a:prstGeom prst="rect">
            <a:avLst/>
          </a:prstGeom>
          <a:solidFill>
            <a:srgbClr val="02C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5108</Words>
  <Application>WPS Sunum</Application>
  <PresentationFormat>On-screen Show (16:9)</PresentationFormat>
  <Paragraphs>302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Cambria</vt:lpstr>
      <vt:lpstr>Calibri</vt:lpstr>
      <vt:lpstr>Microsoft YaHei</vt:lpstr>
      <vt:lpstr>Arial Unicode MS</vt:lpstr>
      <vt:lpstr>MS PGothic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Emre</cp:lastModifiedBy>
  <cp:revision>6</cp:revision>
  <dcterms:created xsi:type="dcterms:W3CDTF">2013-01-27T09:14:00Z</dcterms:created>
  <dcterms:modified xsi:type="dcterms:W3CDTF">2026-06-18T10:15:02Z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B6853B7BD46445F280FA9A3C7F40BAC4_12</vt:lpwstr>
  </property>
  <property fmtid="{D5CDD505-2E9C-101B-9397-08002B2CF9AE}" pid="3" name="KSOProductBuildVer">
    <vt:lpwstr>1055-12.1.0.26880</vt:lpwstr>
  </property>
</Properties>
</file>